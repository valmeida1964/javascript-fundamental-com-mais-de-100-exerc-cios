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7F9C"/>
    <a:srgbClr val="314555"/>
    <a:srgbClr val="FDEA30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705" y="2436495"/>
            <a:ext cx="1948180" cy="198501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764915" y="2480310"/>
            <a:ext cx="77470" cy="194119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7" name="Caixa de Texto 6"/>
          <p:cNvSpPr txBox="1"/>
          <p:nvPr/>
        </p:nvSpPr>
        <p:spPr>
          <a:xfrm>
            <a:off x="3842385" y="2480310"/>
            <a:ext cx="7202170" cy="7213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6400" b="1">
                <a:solidFill>
                  <a:srgbClr val="FDEA30"/>
                </a:solidFill>
                <a:latin typeface="BaseOne" charset="0"/>
                <a:cs typeface="BaseOne" charset="0"/>
              </a:rPr>
              <a:t>JavaScript Fundamental</a:t>
            </a:r>
            <a:endParaRPr lang="pt-PT" altLang="en-US" sz="9600" b="1">
              <a:solidFill>
                <a:schemeClr val="bg1"/>
              </a:solidFill>
              <a:latin typeface="BaseOne" charset="0"/>
              <a:cs typeface="BaseOne" charset="0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3872865" y="3288665"/>
            <a:ext cx="7791450" cy="1273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80000"/>
              </a:lnSpc>
            </a:pPr>
            <a:r>
              <a:rPr lang="pt-PT" altLang="en-US" sz="9600" b="1">
                <a:solidFill>
                  <a:schemeClr val="bg1"/>
                </a:solidFill>
                <a:latin typeface="BaseOne" charset="0"/>
                <a:cs typeface="BaseOne" charset="0"/>
                <a:sym typeface="+mn-ea"/>
              </a:rPr>
              <a:t>+ 100 Exercícios</a:t>
            </a:r>
            <a:endParaRPr lang="pt-PT" altLang="en-US" sz="9600" b="1">
              <a:solidFill>
                <a:schemeClr val="bg1"/>
              </a:solidFill>
              <a:latin typeface="BaseOne" charset="0"/>
              <a:cs typeface="BaseOne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Imagem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25" y="396240"/>
            <a:ext cx="5306060" cy="7945120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510540" y="861695"/>
            <a:ext cx="35331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altLang="en-US" sz="32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</a:rPr>
              <a:t>Acerca do instrutor</a:t>
            </a:r>
            <a:endParaRPr lang="pt-PT" altLang="en-US" sz="32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510263" y="1970522"/>
            <a:ext cx="5740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15 anos</a:t>
            </a:r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 de experiência em Ensino</a:t>
            </a:r>
            <a:endParaRPr lang="pt-PT" sz="3200" dirty="0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510263" y="2616853"/>
            <a:ext cx="65678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7 anos</a:t>
            </a:r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 como </a:t>
            </a:r>
            <a:r>
              <a:rPr lang="pt-PT" sz="3200" b="1" dirty="0" err="1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Full</a:t>
            </a:r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pt-PT" sz="3200" b="1" dirty="0" err="1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Stack</a:t>
            </a:r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 Web </a:t>
            </a:r>
            <a:r>
              <a:rPr lang="pt-PT" sz="3200" b="1" dirty="0" err="1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Developer</a:t>
            </a:r>
            <a:endParaRPr lang="pt-PT" sz="3200" b="1" dirty="0" err="1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10263" y="3263184"/>
            <a:ext cx="6248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Grande paixão pelo desenvolvimento</a:t>
            </a:r>
            <a:endParaRPr lang="pt-PT" sz="3200" dirty="0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510262" y="3909515"/>
            <a:ext cx="71812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34 anos</a:t>
            </a:r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 de experiência como programador</a:t>
            </a:r>
            <a:endParaRPr lang="pt-PT" sz="3200" dirty="0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510262" y="4555846"/>
            <a:ext cx="65966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Autodidata</a:t>
            </a:r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 no estudo das tecnologias</a:t>
            </a:r>
            <a:endParaRPr lang="pt-PT" sz="3200" dirty="0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10262" y="5202177"/>
            <a:ext cx="74599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Canal do YouTube com mais de </a:t>
            </a:r>
            <a:r>
              <a:rPr lang="pt-PT" sz="3200" b="1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4800 vídeos</a:t>
            </a:r>
            <a:endParaRPr lang="pt-PT" sz="3200" b="1" dirty="0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11" name="Retângulo Arredondado 10"/>
          <p:cNvSpPr/>
          <p:nvPr/>
        </p:nvSpPr>
        <p:spPr>
          <a:xfrm>
            <a:off x="9447530" y="5699760"/>
            <a:ext cx="2974340" cy="754380"/>
          </a:xfrm>
          <a:prstGeom prst="roundRect">
            <a:avLst>
              <a:gd name="adj" fmla="val 31589"/>
            </a:avLst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10" name="CaixaDeTexto 24"/>
          <p:cNvSpPr txBox="1"/>
          <p:nvPr/>
        </p:nvSpPr>
        <p:spPr>
          <a:xfrm>
            <a:off x="9609813" y="5785602"/>
            <a:ext cx="22225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pt-PT" sz="3200" dirty="0" smtClean="0">
                <a:solidFill>
                  <a:schemeClr val="bg1"/>
                </a:solidFill>
                <a:effectLst>
                  <a:outerShdw blurRad="393700" dist="101600" dir="2700000" algn="tl" rotWithShape="0">
                    <a:prstClr val="black">
                      <a:alpha val="71000"/>
                    </a:prstClr>
                  </a:outerShdw>
                </a:effectLst>
                <a:latin typeface="Rajdhani" panose="02000000000000000000" pitchFamily="2" charset="0"/>
                <a:cs typeface="Rajdhani" panose="02000000000000000000" pitchFamily="2" charset="0"/>
              </a:rPr>
              <a:t>João Ribeiro</a:t>
            </a:r>
            <a:endParaRPr lang="pt-PT" sz="3200" dirty="0" smtClean="0">
              <a:solidFill>
                <a:schemeClr val="bg1"/>
              </a:solidFill>
              <a:effectLst>
                <a:outerShdw blurRad="393700" dist="101600" dir="2700000" algn="tl" rotWithShape="0">
                  <a:prstClr val="black">
                    <a:alpha val="71000"/>
                  </a:prstClr>
                </a:outerShdw>
              </a:effectLst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4" grpId="0"/>
      <p:bldP spid="10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" name="Agrupar 2"/>
          <p:cNvGrpSpPr/>
          <p:nvPr/>
        </p:nvGrpSpPr>
        <p:grpSpPr>
          <a:xfrm>
            <a:off x="1823720" y="2436495"/>
            <a:ext cx="8545195" cy="1985010"/>
            <a:chOff x="2793" y="3837"/>
            <a:chExt cx="13457" cy="3126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93" y="3837"/>
              <a:ext cx="3068" cy="3126"/>
            </a:xfrm>
            <a:prstGeom prst="rect">
              <a:avLst/>
            </a:prstGeom>
          </p:spPr>
        </p:pic>
        <p:sp>
          <p:nvSpPr>
            <p:cNvPr id="7" name="Caixa de Texto 6"/>
            <p:cNvSpPr txBox="1"/>
            <p:nvPr/>
          </p:nvSpPr>
          <p:spPr>
            <a:xfrm>
              <a:off x="6376" y="4832"/>
              <a:ext cx="9874" cy="113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l">
                <a:lnSpc>
                  <a:spcPct val="100000"/>
                </a:lnSpc>
              </a:pPr>
              <a:r>
                <a:rPr lang="pt-PT" altLang="en-US" sz="11500" b="1">
                  <a:solidFill>
                    <a:srgbClr val="FDEA30"/>
                  </a:solidFill>
                  <a:latin typeface="Calibri" panose="020F0502020204030204" charset="0"/>
                  <a:cs typeface="Calibri" panose="020F0502020204030204" charset="0"/>
                </a:rPr>
                <a:t>JavaScript</a:t>
              </a:r>
              <a:endParaRPr lang="pt-PT" altLang="en-US" sz="11500" b="1">
                <a:solidFill>
                  <a:srgbClr val="FDEA30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363220" y="389255"/>
            <a:ext cx="11028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</a:rPr>
              <a:t>JavaScript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</a:rPr>
              <a:t>(JS) é uma linguagem de programação.</a:t>
            </a:r>
            <a:endParaRPr lang="pt-PT" altLang="en-US" sz="2800">
              <a:solidFill>
                <a:schemeClr val="bg1"/>
              </a:solidFill>
              <a:latin typeface="Rajdhani SemiBold" panose="02000000000000000000" charset="0"/>
              <a:cs typeface="Rajdhani SemiBold" panose="02000000000000000000" charset="0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363220" y="1262380"/>
            <a:ext cx="11028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É uma das principais tecnologias da Web, juntamente com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HTML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e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CSS</a:t>
            </a:r>
            <a:endParaRPr lang="pt-PT" altLang="en-US" sz="2800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63220" y="2135505"/>
            <a:ext cx="11028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Permite criar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interatividade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dentro das páginas web.</a:t>
            </a:r>
            <a:endParaRPr lang="pt-PT" altLang="en-US" sz="2800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363220" y="3008630"/>
            <a:ext cx="11029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ClrTx/>
              <a:buSzTx/>
              <a:buFontTx/>
            </a:pP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Também é utilizado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fora do navegador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 para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executar código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no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servidor</a:t>
            </a:r>
            <a:endParaRPr lang="pt-PT" altLang="en-US" sz="2800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000" y="4243070"/>
            <a:ext cx="1314450" cy="14763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635" y="4422140"/>
            <a:ext cx="1156335" cy="115633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464685"/>
            <a:ext cx="1381760" cy="1226185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370" y="4346575"/>
            <a:ext cx="1413510" cy="1241425"/>
          </a:xfrm>
          <a:prstGeom prst="rect">
            <a:avLst/>
          </a:prstGeom>
        </p:spPr>
      </p:pic>
      <p:sp>
        <p:nvSpPr>
          <p:cNvPr id="14" name="Anel 13"/>
          <p:cNvSpPr/>
          <p:nvPr/>
        </p:nvSpPr>
        <p:spPr>
          <a:xfrm>
            <a:off x="862965" y="3881755"/>
            <a:ext cx="2178685" cy="2178685"/>
          </a:xfrm>
          <a:prstGeom prst="donut">
            <a:avLst>
              <a:gd name="adj" fmla="val 6264"/>
            </a:avLst>
          </a:prstGeom>
          <a:solidFill>
            <a:srgbClr val="5A7F9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>
              <a:solidFill>
                <a:schemeClr val="tx1"/>
              </a:solidFill>
            </a:endParaRPr>
          </a:p>
        </p:txBody>
      </p:sp>
      <p:sp>
        <p:nvSpPr>
          <p:cNvPr id="16" name="Anel 15"/>
          <p:cNvSpPr/>
          <p:nvPr/>
        </p:nvSpPr>
        <p:spPr>
          <a:xfrm>
            <a:off x="3680460" y="3881755"/>
            <a:ext cx="2178685" cy="2178685"/>
          </a:xfrm>
          <a:prstGeom prst="donut">
            <a:avLst>
              <a:gd name="adj" fmla="val 6264"/>
            </a:avLst>
          </a:prstGeom>
          <a:solidFill>
            <a:srgbClr val="5A7F9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>
              <a:solidFill>
                <a:schemeClr val="tx1"/>
              </a:solidFill>
            </a:endParaRPr>
          </a:p>
        </p:txBody>
      </p:sp>
      <p:sp>
        <p:nvSpPr>
          <p:cNvPr id="17" name="Anel 16"/>
          <p:cNvSpPr/>
          <p:nvPr/>
        </p:nvSpPr>
        <p:spPr>
          <a:xfrm>
            <a:off x="6497955" y="3881755"/>
            <a:ext cx="2178685" cy="2178685"/>
          </a:xfrm>
          <a:prstGeom prst="donut">
            <a:avLst>
              <a:gd name="adj" fmla="val 6264"/>
            </a:avLst>
          </a:prstGeom>
          <a:solidFill>
            <a:srgbClr val="5A7F9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>
              <a:solidFill>
                <a:schemeClr val="tx1"/>
              </a:solidFill>
            </a:endParaRPr>
          </a:p>
        </p:txBody>
      </p:sp>
      <p:sp>
        <p:nvSpPr>
          <p:cNvPr id="18" name="Anel 17"/>
          <p:cNvSpPr/>
          <p:nvPr/>
        </p:nvSpPr>
        <p:spPr>
          <a:xfrm>
            <a:off x="9315450" y="3881755"/>
            <a:ext cx="2178685" cy="2178685"/>
          </a:xfrm>
          <a:prstGeom prst="donut">
            <a:avLst>
              <a:gd name="adj" fmla="val 6264"/>
            </a:avLst>
          </a:prstGeom>
          <a:solidFill>
            <a:srgbClr val="5A7F9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14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512820" y="567055"/>
            <a:ext cx="845058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O JavaScript foi inicialmente criado por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Brendan Eich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 da NetScape</a:t>
            </a:r>
            <a:endParaRPr lang="pt-PT" altLang="en-US" sz="2800">
              <a:solidFill>
                <a:schemeClr val="bg1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512820" y="17170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Foi anunciado pela primeira vez em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1995</a:t>
            </a:r>
            <a:endParaRPr lang="pt-PT" altLang="en-US" sz="2800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15" name="Caixa de Texto 14"/>
          <p:cNvSpPr txBox="1"/>
          <p:nvPr/>
        </p:nvSpPr>
        <p:spPr>
          <a:xfrm>
            <a:off x="3512820" y="243586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Tem uma história bizarra de nomes</a:t>
            </a:r>
            <a:endParaRPr lang="pt-PT" altLang="en-US" sz="2800">
              <a:solidFill>
                <a:schemeClr val="bg1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10" name="Caixa de Texto 9"/>
          <p:cNvSpPr txBox="1"/>
          <p:nvPr/>
        </p:nvSpPr>
        <p:spPr>
          <a:xfrm>
            <a:off x="3512820" y="3154680"/>
            <a:ext cx="846899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Inicialmente, foi chamado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Mocha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pelo criador, e mais tarde foi renomeado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LiveScript</a:t>
            </a:r>
            <a:endParaRPr lang="pt-PT" altLang="en-US" sz="2800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19" name="Caixa de Texto 18"/>
          <p:cNvSpPr txBox="1"/>
          <p:nvPr/>
        </p:nvSpPr>
        <p:spPr>
          <a:xfrm>
            <a:off x="3512820" y="4304665"/>
            <a:ext cx="82677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Em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1996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, a NetScape decidiu mudar o nome para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JavaScript </a:t>
            </a: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para capitalizar na comunidade Java</a:t>
            </a:r>
            <a:endParaRPr lang="pt-PT" altLang="en-US" sz="2800">
              <a:solidFill>
                <a:schemeClr val="bg1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20" name="Caixa de Texto 19"/>
          <p:cNvSpPr txBox="1"/>
          <p:nvPr/>
        </p:nvSpPr>
        <p:spPr>
          <a:xfrm>
            <a:off x="3512820" y="5454650"/>
            <a:ext cx="82677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pt-PT" altLang="en-US" sz="2800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JavaScript é formalmente conhecido por </a:t>
            </a:r>
            <a:r>
              <a:rPr lang="pt-PT" altLang="en-US" sz="2800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  <a:sym typeface="+mn-ea"/>
              </a:rPr>
              <a:t>ECMAScript</a:t>
            </a:r>
            <a:endParaRPr lang="pt-PT" altLang="en-US" sz="2800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  <a:sym typeface="+mn-ea"/>
            </a:endParaRPr>
          </a:p>
        </p:txBody>
      </p:sp>
      <p:sp>
        <p:nvSpPr>
          <p:cNvPr id="22" name="Caixa de Texto 21"/>
          <p:cNvSpPr txBox="1"/>
          <p:nvPr/>
        </p:nvSpPr>
        <p:spPr>
          <a:xfrm>
            <a:off x="5885815" y="607123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pt-PT" altLang="en-US" sz="1600">
                <a:solidFill>
                  <a:schemeClr val="bg1">
                    <a:lumMod val="75000"/>
                  </a:schemeClr>
                </a:solidFill>
              </a:rPr>
              <a:t>ECMA = European Computer Manufacturers Association</a:t>
            </a:r>
            <a:endParaRPr lang="pt-PT" altLang="en-US" sz="16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3570" y="1237615"/>
            <a:ext cx="4540250" cy="4382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5" grpId="0"/>
      <p:bldP spid="10" grpId="0"/>
      <p:bldP spid="19" grpId="0"/>
      <p:bldP spid="2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490220" y="565785"/>
            <a:ext cx="115030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PT" altLang="en-US" sz="3200" b="1">
                <a:solidFill>
                  <a:schemeClr val="bg1"/>
                </a:solidFill>
                <a:latin typeface="Rajdhani SemiBold" panose="02000000000000000000" charset="0"/>
                <a:cs typeface="Rajdhani SemiBold" panose="02000000000000000000" charset="0"/>
              </a:rPr>
              <a:t>Linguagem com muita procura no </a:t>
            </a:r>
            <a:r>
              <a:rPr lang="pt-PT" altLang="en-US" sz="3200" b="1">
                <a:solidFill>
                  <a:srgbClr val="FFFF00"/>
                </a:solidFill>
                <a:latin typeface="Rajdhani SemiBold" panose="02000000000000000000" charset="0"/>
                <a:cs typeface="Rajdhani SemiBold" panose="02000000000000000000" charset="0"/>
              </a:rPr>
              <a:t>mercado de trabalho</a:t>
            </a:r>
            <a:endParaRPr lang="pt-PT" altLang="en-US" sz="3200" b="1">
              <a:solidFill>
                <a:srgbClr val="FFFF00"/>
              </a:solidFill>
              <a:latin typeface="Rajdhani SemiBold" panose="02000000000000000000" charset="0"/>
              <a:cs typeface="Rajdhani SemiBold" panose="02000000000000000000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262981"/>
            <a:ext cx="1202055" cy="14668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30" y="2222341"/>
            <a:ext cx="1317625" cy="154813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130" y="2197894"/>
            <a:ext cx="1148715" cy="15970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285" y="4973320"/>
            <a:ext cx="2595880" cy="38354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420" y="2235359"/>
            <a:ext cx="1801495" cy="1522095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490" y="2223611"/>
            <a:ext cx="1545590" cy="154559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5865" y="4709160"/>
            <a:ext cx="962025" cy="911860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3085" y="4577080"/>
            <a:ext cx="1114425" cy="1176020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3590" y="4663758"/>
            <a:ext cx="1153795" cy="1002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WPS Presentation</Application>
  <PresentationFormat>宽屏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BaseOne</vt:lpstr>
      <vt:lpstr>Titillium Web</vt:lpstr>
      <vt:lpstr>Rajdhani</vt:lpstr>
      <vt:lpstr>Calibri</vt:lpstr>
      <vt:lpstr>Microsoft YaHei</vt:lpstr>
      <vt:lpstr>Arial Unicode MS</vt:lpstr>
      <vt:lpstr>Bahnschrift Light</vt:lpstr>
      <vt:lpstr>Bahnschrift Light Condensed</vt:lpstr>
      <vt:lpstr>Bahnschrift SemiLight SemiCondensed</vt:lpstr>
      <vt:lpstr>Candara Light</vt:lpstr>
      <vt:lpstr>Candara</vt:lpstr>
      <vt:lpstr>Cambria</vt:lpstr>
      <vt:lpstr>Rajdhani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João Ribeiro</cp:lastModifiedBy>
  <cp:revision>6</cp:revision>
  <dcterms:created xsi:type="dcterms:W3CDTF">2025-04-05T17:54:00Z</dcterms:created>
  <dcterms:modified xsi:type="dcterms:W3CDTF">2025-04-07T23:29:01Z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2070-12.2.0.20782</vt:lpwstr>
  </property>
  <property fmtid="{D5CDD505-2E9C-101B-9397-08002B2CF9AE}" pid="3" name="ICV">
    <vt:lpwstr>9FDD02F0D0CD4FD1B86B9614FE337660_11</vt:lpwstr>
  </property>
</Properties>
</file>