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56" r:id="rId3"/>
    <p:sldId id="257" r:id="rId4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EA30"/>
    <a:srgbClr val="5A7F9C"/>
    <a:srgbClr val="314555"/>
    <a:srgbClr val="E337D9"/>
    <a:srgbClr val="ABBFCE"/>
    <a:srgbClr val="587A94"/>
    <a:srgbClr val="B2B2B2"/>
    <a:srgbClr val="202020"/>
    <a:srgbClr val="323232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59"/>
        <p:guide pos="3839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1455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Imagem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2990" y="2889885"/>
            <a:ext cx="1080000" cy="1080000"/>
          </a:xfrm>
          <a:prstGeom prst="rect">
            <a:avLst/>
          </a:prstGeom>
        </p:spPr>
      </p:pic>
      <p:sp>
        <p:nvSpPr>
          <p:cNvPr id="4" name="Retângulo 3"/>
          <p:cNvSpPr/>
          <p:nvPr/>
        </p:nvSpPr>
        <p:spPr>
          <a:xfrm>
            <a:off x="3539490" y="2889885"/>
            <a:ext cx="54000" cy="1080135"/>
          </a:xfrm>
          <a:prstGeom prst="rect">
            <a:avLst/>
          </a:prstGeom>
          <a:solidFill>
            <a:srgbClr val="587A9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pt-PT" altLang="en-US"/>
          </a:p>
        </p:txBody>
      </p:sp>
      <p:sp>
        <p:nvSpPr>
          <p:cNvPr id="8" name="Caixa de Texto 7"/>
          <p:cNvSpPr txBox="1"/>
          <p:nvPr/>
        </p:nvSpPr>
        <p:spPr>
          <a:xfrm>
            <a:off x="3717290" y="2889885"/>
            <a:ext cx="7160260" cy="10795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l">
              <a:lnSpc>
                <a:spcPct val="100000"/>
              </a:lnSpc>
            </a:pPr>
            <a:r>
              <a:rPr lang="pt-PT" altLang="en-US" sz="3600" b="1">
                <a:solidFill>
                  <a:schemeClr val="bg1"/>
                </a:solidFill>
                <a:latin typeface="Titillium Web" panose="00000500000000000000" charset="0"/>
                <a:cs typeface="Titillium Web" panose="00000500000000000000" charset="0"/>
              </a:rPr>
              <a:t>Requisitos para o curso</a:t>
            </a:r>
            <a:endParaRPr lang="pt-PT" altLang="en-US" sz="3600" b="1">
              <a:solidFill>
                <a:schemeClr val="bg1"/>
              </a:solidFill>
              <a:latin typeface="Titillium Web" panose="00000500000000000000" charset="0"/>
              <a:cs typeface="Titillium Web" panose="00000500000000000000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2" dur="2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145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Caixa de Texto 14"/>
          <p:cNvSpPr txBox="1"/>
          <p:nvPr/>
        </p:nvSpPr>
        <p:spPr>
          <a:xfrm>
            <a:off x="545465" y="2430145"/>
            <a:ext cx="1029843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>
              <a:buFont typeface="Wingdings" panose="05000000000000000000" charset="0"/>
              <a:buChar char="ü"/>
            </a:pPr>
            <a:r>
              <a:rPr lang="pt-PT" altLang="en-US" sz="2800">
                <a:solidFill>
                  <a:schemeClr val="bg1"/>
                </a:solidFill>
                <a:latin typeface="Titillium Web" panose="00000500000000000000" charset="0"/>
                <a:cs typeface="Titillium Web" panose="00000500000000000000" charset="0"/>
                <a:sym typeface="+mn-ea"/>
              </a:rPr>
              <a:t>HTML5 e CSS3</a:t>
            </a:r>
            <a:endParaRPr lang="pt-PT" altLang="en-US" sz="2800">
              <a:solidFill>
                <a:srgbClr val="FFFF00"/>
              </a:solidFill>
              <a:latin typeface="Titillium Web" panose="00000500000000000000" charset="0"/>
              <a:cs typeface="Titillium Web" panose="00000500000000000000" charset="0"/>
              <a:sym typeface="+mn-ea"/>
            </a:endParaRPr>
          </a:p>
        </p:txBody>
      </p:sp>
      <p:sp>
        <p:nvSpPr>
          <p:cNvPr id="16" name="Caixa de Texto 15"/>
          <p:cNvSpPr txBox="1"/>
          <p:nvPr/>
        </p:nvSpPr>
        <p:spPr>
          <a:xfrm>
            <a:off x="545465" y="3408680"/>
            <a:ext cx="1029843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>
              <a:buFont typeface="Wingdings" panose="05000000000000000000" charset="0"/>
              <a:buChar char="ü"/>
            </a:pPr>
            <a:r>
              <a:rPr lang="pt-PT" altLang="en-US" sz="2800">
                <a:solidFill>
                  <a:schemeClr val="bg1"/>
                </a:solidFill>
                <a:latin typeface="Titillium Web" panose="00000500000000000000" charset="0"/>
                <a:cs typeface="Titillium Web" panose="00000500000000000000" charset="0"/>
                <a:sym typeface="+mn-ea"/>
              </a:rPr>
              <a:t>Saber usar o VS Code e o Google Chrome</a:t>
            </a:r>
            <a:endParaRPr lang="pt-PT" altLang="en-US" sz="2800">
              <a:solidFill>
                <a:schemeClr val="bg1"/>
              </a:solidFill>
              <a:latin typeface="Titillium Web" panose="00000500000000000000" charset="0"/>
              <a:cs typeface="Titillium Web" panose="00000500000000000000" charset="0"/>
              <a:sym typeface="+mn-ea"/>
            </a:endParaRPr>
          </a:p>
        </p:txBody>
      </p:sp>
      <p:sp>
        <p:nvSpPr>
          <p:cNvPr id="17" name="Caixa de Texto 16"/>
          <p:cNvSpPr txBox="1"/>
          <p:nvPr/>
        </p:nvSpPr>
        <p:spPr>
          <a:xfrm>
            <a:off x="545465" y="4387215"/>
            <a:ext cx="1029843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>
              <a:buFont typeface="Wingdings" panose="05000000000000000000" charset="0"/>
              <a:buChar char="ü"/>
            </a:pPr>
            <a:r>
              <a:rPr lang="pt-PT" altLang="en-US" sz="2800">
                <a:solidFill>
                  <a:schemeClr val="bg1"/>
                </a:solidFill>
                <a:latin typeface="Titillium Web" panose="00000500000000000000" charset="0"/>
                <a:cs typeface="Titillium Web" panose="00000500000000000000" charset="0"/>
                <a:sym typeface="+mn-ea"/>
              </a:rPr>
              <a:t>Conhecimentos básicos de GIT </a:t>
            </a:r>
            <a:r>
              <a:rPr lang="pt-PT" altLang="en-US" sz="2800">
                <a:solidFill>
                  <a:schemeClr val="bg1">
                    <a:lumMod val="50000"/>
                  </a:schemeClr>
                </a:solidFill>
                <a:latin typeface="Titillium Web" panose="00000500000000000000" charset="0"/>
                <a:cs typeface="Titillium Web" panose="00000500000000000000" charset="0"/>
                <a:sym typeface="+mn-ea"/>
              </a:rPr>
              <a:t>(para alguns projetos)</a:t>
            </a:r>
            <a:endParaRPr lang="pt-PT" altLang="en-US" sz="2800">
              <a:solidFill>
                <a:schemeClr val="bg1">
                  <a:lumMod val="50000"/>
                </a:schemeClr>
              </a:solidFill>
              <a:latin typeface="Titillium Web" panose="00000500000000000000" charset="0"/>
              <a:cs typeface="Titillium Web" panose="00000500000000000000" charset="0"/>
              <a:sym typeface="+mn-ea"/>
            </a:endParaRPr>
          </a:p>
        </p:txBody>
      </p:sp>
      <p:sp>
        <p:nvSpPr>
          <p:cNvPr id="7" name="Caixa de Texto 6"/>
          <p:cNvSpPr txBox="1"/>
          <p:nvPr/>
        </p:nvSpPr>
        <p:spPr>
          <a:xfrm>
            <a:off x="545465" y="1451610"/>
            <a:ext cx="1029843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>
              <a:buFont typeface="Wingdings" panose="05000000000000000000" charset="0"/>
              <a:buChar char="ü"/>
            </a:pPr>
            <a:r>
              <a:rPr lang="pt-PT" altLang="en-US" sz="2800">
                <a:solidFill>
                  <a:schemeClr val="bg1"/>
                </a:solidFill>
                <a:latin typeface="Titillium Web" panose="00000500000000000000" charset="0"/>
                <a:cs typeface="Titillium Web" panose="00000500000000000000" charset="0"/>
                <a:sym typeface="+mn-ea"/>
              </a:rPr>
              <a:t>Conhecimentos básicos de programação</a:t>
            </a:r>
            <a:endParaRPr lang="pt-PT" altLang="en-US" sz="2800">
              <a:solidFill>
                <a:srgbClr val="FFFF00"/>
              </a:solidFill>
              <a:latin typeface="Titillium Web" panose="00000500000000000000" charset="0"/>
              <a:cs typeface="Titillium Web" panose="00000500000000000000" charset="0"/>
              <a:sym typeface="+mn-ea"/>
            </a:endParaRPr>
          </a:p>
        </p:txBody>
      </p:sp>
      <p:sp>
        <p:nvSpPr>
          <p:cNvPr id="8" name="Caixa de Texto 7"/>
          <p:cNvSpPr txBox="1"/>
          <p:nvPr/>
        </p:nvSpPr>
        <p:spPr>
          <a:xfrm>
            <a:off x="1026795" y="1819275"/>
            <a:ext cx="98171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>
              <a:buFont typeface="Wingdings" panose="05000000000000000000" charset="0"/>
              <a:buNone/>
            </a:pPr>
            <a:r>
              <a:rPr lang="pt-PT" altLang="en-US" sz="2400">
                <a:solidFill>
                  <a:schemeClr val="bg1">
                    <a:lumMod val="50000"/>
                  </a:schemeClr>
                </a:solidFill>
                <a:latin typeface="Titillium Web" panose="00000500000000000000" charset="0"/>
                <a:cs typeface="Titillium Web" panose="00000500000000000000" charset="0"/>
                <a:sym typeface="+mn-ea"/>
              </a:rPr>
              <a:t>Variáveis, operadores, condicionais, ciclos, funções,...</a:t>
            </a:r>
            <a:endParaRPr lang="pt-PT" altLang="en-US" sz="2400">
              <a:solidFill>
                <a:schemeClr val="bg1">
                  <a:lumMod val="50000"/>
                </a:schemeClr>
              </a:solidFill>
              <a:latin typeface="Titillium Web" panose="00000500000000000000" charset="0"/>
              <a:cs typeface="Titillium Web" panose="00000500000000000000" charset="0"/>
              <a:sym typeface="+mn-ea"/>
            </a:endParaRPr>
          </a:p>
        </p:txBody>
      </p:sp>
      <p:sp>
        <p:nvSpPr>
          <p:cNvPr id="2" name="Caixa de Texto 1"/>
          <p:cNvSpPr txBox="1"/>
          <p:nvPr/>
        </p:nvSpPr>
        <p:spPr>
          <a:xfrm>
            <a:off x="545465" y="546735"/>
            <a:ext cx="7160260" cy="53848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l">
              <a:lnSpc>
                <a:spcPct val="100000"/>
              </a:lnSpc>
            </a:pPr>
            <a:r>
              <a:rPr lang="pt-PT" altLang="en-US" sz="3600" b="1">
                <a:solidFill>
                  <a:srgbClr val="FDEA30"/>
                </a:solidFill>
                <a:latin typeface="Titillium Web" panose="00000500000000000000" charset="0"/>
                <a:cs typeface="Titillium Web" panose="00000500000000000000" charset="0"/>
              </a:rPr>
              <a:t>Requisitos para o curso</a:t>
            </a:r>
            <a:endParaRPr lang="pt-PT" altLang="en-US" sz="3600" b="1">
              <a:solidFill>
                <a:srgbClr val="FDEA30"/>
              </a:solidFill>
              <a:latin typeface="Titillium Web" panose="00000500000000000000" charset="0"/>
              <a:cs typeface="Titillium Web" panose="00000500000000000000" charset="0"/>
            </a:endParaRPr>
          </a:p>
        </p:txBody>
      </p:sp>
      <p:sp>
        <p:nvSpPr>
          <p:cNvPr id="3" name="Caixa de Texto 2"/>
          <p:cNvSpPr txBox="1"/>
          <p:nvPr/>
        </p:nvSpPr>
        <p:spPr>
          <a:xfrm>
            <a:off x="545465" y="5365750"/>
            <a:ext cx="1124204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>
              <a:buFont typeface="Wingdings" panose="05000000000000000000" charset="0"/>
              <a:buChar char="ü"/>
            </a:pPr>
            <a:r>
              <a:rPr lang="pt-PT" altLang="en-US" sz="2800">
                <a:solidFill>
                  <a:schemeClr val="bg1"/>
                </a:solidFill>
                <a:latin typeface="Titillium Web" panose="00000500000000000000" charset="0"/>
                <a:cs typeface="Titillium Web" panose="00000500000000000000" charset="0"/>
                <a:sym typeface="+mn-ea"/>
              </a:rPr>
              <a:t>No próximo módulo vamos preparar o ambiente de desenvolvimento</a:t>
            </a:r>
            <a:endParaRPr lang="pt-PT" altLang="en-US" sz="2800">
              <a:solidFill>
                <a:schemeClr val="bg1"/>
              </a:solidFill>
              <a:latin typeface="Titillium Web" panose="00000500000000000000" charset="0"/>
              <a:cs typeface="Titillium Web" panose="00000500000000000000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pull/>
      </p:transition>
    </mc:Choice>
    <mc:Fallback>
      <p:transition spd="med">
        <p:pull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7" grpId="0"/>
      <p:bldP spid="8" grpId="0"/>
      <p:bldP spid="3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301</Words>
  <Application>WPS Presentation</Application>
  <PresentationFormat>宽屏</PresentationFormat>
  <Paragraphs>16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5" baseType="lpstr">
      <vt:lpstr>Arial</vt:lpstr>
      <vt:lpstr>SimSun</vt:lpstr>
      <vt:lpstr>Wingdings</vt:lpstr>
      <vt:lpstr>Calibri Light</vt:lpstr>
      <vt:lpstr>BaseOne</vt:lpstr>
      <vt:lpstr>Titillium Web</vt:lpstr>
      <vt:lpstr>Rajdhani</vt:lpstr>
      <vt:lpstr>Calibri</vt:lpstr>
      <vt:lpstr>Rajdhani SemiBold</vt:lpstr>
      <vt:lpstr>Microsoft YaHei</vt:lpstr>
      <vt:lpstr>Arial Unicode MS</vt:lpstr>
      <vt:lpstr>Wingdings</vt:lpstr>
      <vt:lpstr>Office Theme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jldri</dc:creator>
  <cp:lastModifiedBy>João Ribeiro</cp:lastModifiedBy>
  <cp:revision>8</cp:revision>
  <dcterms:created xsi:type="dcterms:W3CDTF">2025-04-05T17:54:00Z</dcterms:created>
  <dcterms:modified xsi:type="dcterms:W3CDTF">2025-04-08T21:52:24Z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2070-12.2.0.20782</vt:lpwstr>
  </property>
  <property fmtid="{D5CDD505-2E9C-101B-9397-08002B2CF9AE}" pid="3" name="ICV">
    <vt:lpwstr>9FDD02F0D0CD4FD1B86B9614FE337660_11</vt:lpwstr>
  </property>
</Properties>
</file>